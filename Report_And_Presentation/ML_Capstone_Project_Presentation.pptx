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8"/>
  </p:notesMasterIdLst>
  <p:handoutMasterIdLst>
    <p:handoutMasterId r:id="rId29"/>
  </p:handoutMasterIdLst>
  <p:sldIdLst>
    <p:sldId id="336" r:id="rId5"/>
    <p:sldId id="330" r:id="rId6"/>
    <p:sldId id="332" r:id="rId7"/>
    <p:sldId id="337" r:id="rId8"/>
    <p:sldId id="340" r:id="rId9"/>
    <p:sldId id="339" r:id="rId10"/>
    <p:sldId id="341" r:id="rId11"/>
    <p:sldId id="348" r:id="rId12"/>
    <p:sldId id="334" r:id="rId13"/>
    <p:sldId id="342" r:id="rId14"/>
    <p:sldId id="343" r:id="rId15"/>
    <p:sldId id="344" r:id="rId16"/>
    <p:sldId id="345" r:id="rId17"/>
    <p:sldId id="346" r:id="rId18"/>
    <p:sldId id="347" r:id="rId19"/>
    <p:sldId id="335" r:id="rId20"/>
    <p:sldId id="350" r:id="rId21"/>
    <p:sldId id="351" r:id="rId22"/>
    <p:sldId id="352" r:id="rId23"/>
    <p:sldId id="353" r:id="rId24"/>
    <p:sldId id="354" r:id="rId25"/>
    <p:sldId id="274" r:id="rId26"/>
    <p:sldId id="275" r:id="rId27"/>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7DDB"/>
    <a:srgbClr val="F2F4F8"/>
    <a:srgbClr val="0948CB"/>
    <a:srgbClr val="0B49C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0" autoAdjust="0"/>
    <p:restoredTop sz="95127" autoAdjust="0"/>
  </p:normalViewPr>
  <p:slideViewPr>
    <p:cSldViewPr snapToGrid="0" snapToObjects="1">
      <p:cViewPr>
        <p:scale>
          <a:sx n="62" d="100"/>
          <a:sy n="62" d="100"/>
        </p:scale>
        <p:origin x="692" y="460"/>
      </p:cViewPr>
      <p:guideLst>
        <p:guide orient="horz" pos="2184"/>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6/19/2026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t>3</a:t>
            </a:fld>
            <a:endParaRPr lang="en-US"/>
          </a:p>
        </p:txBody>
      </p:sp>
    </p:spTree>
    <p:extLst>
      <p:ext uri="{BB962C8B-B14F-4D97-AF65-F5344CB8AC3E}">
        <p14:creationId xmlns:p14="http://schemas.microsoft.com/office/powerpoint/2010/main" val="1797807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t>5</a:t>
            </a:fld>
            <a:endParaRPr lang="en-US"/>
          </a:p>
        </p:txBody>
      </p:sp>
    </p:spTree>
    <p:extLst>
      <p:ext uri="{BB962C8B-B14F-4D97-AF65-F5344CB8AC3E}">
        <p14:creationId xmlns:p14="http://schemas.microsoft.com/office/powerpoint/2010/main" val="3243199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3811271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t>8</a:t>
            </a:fld>
            <a:endParaRPr lang="en-US"/>
          </a:p>
        </p:txBody>
      </p:sp>
    </p:spTree>
    <p:extLst>
      <p:ext uri="{BB962C8B-B14F-4D97-AF65-F5344CB8AC3E}">
        <p14:creationId xmlns:p14="http://schemas.microsoft.com/office/powerpoint/2010/main" val="864581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t>10</a:t>
            </a:fld>
            <a:endParaRPr lang="en-US"/>
          </a:p>
        </p:txBody>
      </p:sp>
    </p:spTree>
    <p:extLst>
      <p:ext uri="{BB962C8B-B14F-4D97-AF65-F5344CB8AC3E}">
        <p14:creationId xmlns:p14="http://schemas.microsoft.com/office/powerpoint/2010/main" val="3568181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t>12</a:t>
            </a:fld>
            <a:endParaRPr lang="en-US"/>
          </a:p>
        </p:txBody>
      </p:sp>
    </p:spTree>
    <p:extLst>
      <p:ext uri="{BB962C8B-B14F-4D97-AF65-F5344CB8AC3E}">
        <p14:creationId xmlns:p14="http://schemas.microsoft.com/office/powerpoint/2010/main" val="4243962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DA0E2-FEBD-4B65-8F16-724CF984F377}" type="slidenum">
              <a:rPr lang="en-US" smtClean="0"/>
              <a:t>14</a:t>
            </a:fld>
            <a:endParaRPr lang="en-US"/>
          </a:p>
        </p:txBody>
      </p:sp>
    </p:spTree>
    <p:extLst>
      <p:ext uri="{BB962C8B-B14F-4D97-AF65-F5344CB8AC3E}">
        <p14:creationId xmlns:p14="http://schemas.microsoft.com/office/powerpoint/2010/main" val="1031851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23</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6/19/2026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5871412" y="3820167"/>
            <a:ext cx="6118575" cy="2838753"/>
            <a:chOff x="5136802" y="3703860"/>
            <a:chExt cx="6118575"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3"/>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57954" y="4527982"/>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251284" y="2767280"/>
            <a:ext cx="10241280" cy="1323439"/>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251284" y="4166431"/>
            <a:ext cx="2514600" cy="830997"/>
          </a:xfrm>
          <a:prstGeom prst="rect">
            <a:avLst/>
          </a:prstGeom>
          <a:noFill/>
        </p:spPr>
        <p:txBody>
          <a:bodyPr wrap="square" lIns="91440" tIns="45720" rIns="91440" bIns="45720" rtlCol="0" anchor="t">
            <a:spAutoFit/>
          </a:bodyPr>
          <a:lstStyle/>
          <a:p>
            <a:r>
              <a:rPr lang="en-US" sz="2400" dirty="0">
                <a:latin typeface="Abadi"/>
                <a:ea typeface="SF Pro" pitchFamily="2" charset="0"/>
                <a:cs typeface="SF Pro" pitchFamily="2" charset="0"/>
              </a:rPr>
              <a:t>Shivansh Batra</a:t>
            </a:r>
          </a:p>
          <a:p>
            <a:r>
              <a:rPr lang="en-US" sz="2400" dirty="0">
                <a:latin typeface="Abadi" panose="020B0604020104020204" pitchFamily="34" charset="0"/>
                <a:ea typeface="SF Pro" pitchFamily="2" charset="0"/>
                <a:cs typeface="SF Pro" pitchFamily="2" charset="0"/>
              </a:rPr>
              <a:t>June 2026</a:t>
            </a:r>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10606756" y="551721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10606756" y="5035201"/>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92564" y="5406189"/>
            <a:ext cx="497423" cy="514575"/>
          </a:xfrm>
          <a:prstGeom prst="rect">
            <a:avLst/>
          </a:prstGeom>
        </p:spPr>
      </p:pic>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rgbClr val="0B49CB"/>
                </a:solidFill>
                <a:latin typeface="Abadi"/>
              </a:rPr>
              <a:t>Outline</a:t>
            </a:r>
            <a:endParaRPr lang="en-US" dirty="0">
              <a:solidFill>
                <a:srgbClr val="0B49CB"/>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828068" y="1879846"/>
            <a:ext cx="5660840" cy="414572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400"/>
              </a:spcBef>
            </a:pPr>
            <a:r>
              <a:rPr lang="en-US" sz="2200" b="1" dirty="0">
                <a:solidFill>
                  <a:srgbClr val="0B49CB"/>
                </a:solidFill>
                <a:latin typeface="Abadi"/>
              </a:rPr>
              <a:t>Project Background &amp; Context</a:t>
            </a:r>
          </a:p>
          <a:p>
            <a:pPr>
              <a:spcBef>
                <a:spcPts val="500"/>
              </a:spcBef>
            </a:pPr>
            <a:r>
              <a:rPr lang="en-US" sz="1700" dirty="0">
                <a:solidFill>
                  <a:srgbClr val="333333"/>
                </a:solidFill>
                <a:latin typeface="Abadi"/>
              </a:rPr>
              <a:t>Online learning platforms host thousands of courses, making it difficult for learners to find relevant content. This project develops an intelligent course recommender system using IBM Skills Network enrollment data to surface the most relevant courses for each individual learner.</a:t>
            </a:r>
          </a:p>
          <a:p>
            <a:pPr>
              <a:spcBef>
                <a:spcPts val="600"/>
              </a:spcBef>
            </a:pPr>
            <a:r>
              <a:rPr lang="en-US" sz="2200" b="1" dirty="0">
                <a:solidFill>
                  <a:srgbClr val="0B49CB"/>
                </a:solidFill>
                <a:latin typeface="Abadi"/>
              </a:rPr>
              <a:t>Problem Statement &amp; Hypotheses</a:t>
            </a:r>
          </a:p>
          <a:p>
            <a:pPr>
              <a:spcBef>
                <a:spcPts val="400"/>
              </a:spcBef>
            </a:pPr>
            <a:r>
              <a:rPr lang="en-US" sz="1700" dirty="0">
                <a:solidFill>
                  <a:srgbClr val="333333"/>
                </a:solidFill>
                <a:latin typeface="Abadi"/>
              </a:rPr>
              <a:t>H1: Content-based filtering using course genre vectors can effectively match learners to new courses they have not previously enrolled in.</a:t>
            </a:r>
          </a:p>
          <a:p>
            <a:pPr>
              <a:spcBef>
                <a:spcPts val="300"/>
              </a:spcBef>
            </a:pPr>
            <a:r>
              <a:rPr lang="en-US" sz="1700" dirty="0">
                <a:solidFill>
                  <a:srgbClr val="333333"/>
                </a:solidFill>
                <a:latin typeface="Abadi"/>
              </a:rPr>
              <a:t>H2: Collaborative filtering (KNN, NMF, Neural Embeddings) will outperform content-based methods in accuracy due to leveraging collective user behaviour patterns.</a:t>
            </a:r>
          </a:p>
          <a:p>
            <a:pPr>
              <a:spcBef>
                <a:spcPts val="300"/>
              </a:spcBef>
            </a:pPr>
            <a:r>
              <a:rPr lang="en-US" sz="1700" dirty="0">
                <a:solidFill>
                  <a:srgbClr val="333333"/>
                </a:solidFill>
                <a:latin typeface="Abadi"/>
              </a:rPr>
              <a:t>H3: Neural network embedding models will achieve the lowest RMSE among all collaborative filtering approaches.</a:t>
            </a: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3055" y="5553777"/>
            <a:ext cx="1028790" cy="1028790"/>
          </a:xfrm>
          <a:prstGeom prst="rect">
            <a:avLst/>
          </a:prstGeom>
        </p:spPr>
      </p:pic>
    </p:spTree>
    <p:extLst>
      <p:ext uri="{BB962C8B-B14F-4D97-AF65-F5344CB8AC3E}">
        <p14:creationId xmlns:p14="http://schemas.microsoft.com/office/powerpoint/2010/main" val="360883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counts per genre</a:t>
            </a:r>
          </a:p>
        </p:txBody>
      </p:sp>
      <p:sp>
        <p:nvSpPr>
          <p:cNvPr id="8" name="Content Placeholder 4">
            <a:extLst>
              <a:ext uri="{FF2B5EF4-FFF2-40B4-BE49-F238E27FC236}">
                <a16:creationId xmlns:a16="http://schemas.microsoft.com/office/drawing/2014/main" id="{8653FA46-2212-42E4-9D89-321A9B15A6C2}"/>
              </a:ext>
            </a:extLst>
          </p:cNvPr>
          <p:cNvSpPr txBox="1">
            <a:spLocks/>
          </p:cNvSpPr>
          <p:nvPr/>
        </p:nvSpPr>
        <p:spPr>
          <a:xfrm>
            <a:off x="894201" y="1344458"/>
            <a:ext cx="10515600" cy="1499188"/>
          </a:xfrm>
          <a:prstGeom prst="rect">
            <a:avLst/>
          </a:prstGeom>
          <a:ln>
            <a:solidFill>
              <a:srgbClr val="0B49CB"/>
            </a:solidFill>
            <a:prstDash val="dash"/>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1C7DDB"/>
                </a:solidFill>
                <a:latin typeface="Abadi"/>
              </a:rPr>
              <a:t>Backend Development has the highest number of courses (~78), indicating strong demand and learning interest.</a:t>
            </a:r>
          </a:p>
          <a:p>
            <a:r>
              <a:rPr lang="en-US" sz="2000" dirty="0">
                <a:solidFill>
                  <a:srgbClr val="1C7DDB"/>
                </a:solidFill>
                <a:latin typeface="Abadi"/>
              </a:rPr>
              <a:t>Machine Learning, Database, and Data Analysis are also highly represented, highlighting the importance of data-driven technologies.</a:t>
            </a:r>
          </a:p>
          <a:p>
            <a:r>
              <a:rPr lang="en-US" sz="2000" dirty="0">
                <a:solidFill>
                  <a:srgbClr val="1C7DDB"/>
                </a:solidFill>
                <a:latin typeface="Abadi"/>
              </a:rPr>
              <a:t>Cloud Computing, Big Data, and Python maintain moderate course counts, reflecting their growing industry relevance</a:t>
            </a:r>
          </a:p>
          <a:p>
            <a:r>
              <a:rPr lang="en-US" sz="2000" dirty="0">
                <a:solidFill>
                  <a:srgbClr val="1C7DDB"/>
                </a:solidFill>
                <a:latin typeface="Abadi"/>
              </a:rPr>
              <a:t>Chatbot and Blockchain have the fewest courses, suggesting they are more specialized or niche learning areas.  </a:t>
            </a:r>
            <a:endParaRPr lang="en-US" sz="2200" dirty="0">
              <a:solidFill>
                <a:srgbClr val="1C7DDB"/>
              </a:solidFill>
              <a:latin typeface="Abadi"/>
            </a:endParaRPr>
          </a:p>
          <a:p>
            <a:endParaRPr lang="en-US" sz="2200" dirty="0">
              <a:solidFill>
                <a:srgbClr val="1C7DDB"/>
              </a:solidFill>
              <a:latin typeface="Abadi"/>
            </a:endParaRPr>
          </a:p>
        </p:txBody>
      </p:sp>
      <p:pic>
        <p:nvPicPr>
          <p:cNvPr id="5" name="Picture 4">
            <a:extLst>
              <a:ext uri="{FF2B5EF4-FFF2-40B4-BE49-F238E27FC236}">
                <a16:creationId xmlns:a16="http://schemas.microsoft.com/office/drawing/2014/main" id="{12CC1EDB-10C2-C391-C81F-B7689AEA891D}"/>
              </a:ext>
            </a:extLst>
          </p:cNvPr>
          <p:cNvPicPr>
            <a:picLocks noChangeAspect="1"/>
          </p:cNvPicPr>
          <p:nvPr/>
        </p:nvPicPr>
        <p:blipFill>
          <a:blip r:embed="rId3"/>
          <a:stretch>
            <a:fillRect/>
          </a:stretch>
        </p:blipFill>
        <p:spPr>
          <a:xfrm>
            <a:off x="894201" y="3018407"/>
            <a:ext cx="10403597" cy="3142696"/>
          </a:xfrm>
          <a:prstGeom prst="rect">
            <a:avLst/>
          </a:prstGeom>
        </p:spPr>
      </p:pic>
    </p:spTree>
    <p:extLst>
      <p:ext uri="{BB962C8B-B14F-4D97-AF65-F5344CB8AC3E}">
        <p14:creationId xmlns:p14="http://schemas.microsoft.com/office/powerpoint/2010/main" val="2765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enrollment distribution</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944440" y="1525959"/>
            <a:ext cx="10515600" cy="1636711"/>
          </a:xfrm>
          <a:prstGeom prst="rect">
            <a:avLst/>
          </a:prstGeom>
          <a:ln>
            <a:solidFill>
              <a:srgbClr val="0B49CB"/>
            </a:solidFill>
            <a:prstDash val="dash"/>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1C7DDB"/>
                </a:solidFill>
                <a:latin typeface="Abadi"/>
                <a:cs typeface="Calibri"/>
              </a:rPr>
              <a:t>The enrollment distribution is right-skewed, with most users enrolling in a small number of courses.</a:t>
            </a:r>
          </a:p>
          <a:p>
            <a:r>
              <a:rPr lang="en-US" sz="2000" dirty="0">
                <a:solidFill>
                  <a:srgbClr val="1C7DDB"/>
                </a:solidFill>
                <a:latin typeface="Abadi"/>
                <a:cs typeface="Calibri"/>
              </a:rPr>
              <a:t>A large concentration of users enroll in approximately 5–15 courses, indicating moderate engagement levels.</a:t>
            </a:r>
          </a:p>
          <a:p>
            <a:r>
              <a:rPr lang="en-US" sz="2000" dirty="0">
                <a:solidFill>
                  <a:srgbClr val="1C7DDB"/>
                </a:solidFill>
                <a:latin typeface="Abadi"/>
                <a:cs typeface="Calibri"/>
              </a:rPr>
              <a:t>The number of users decreases significantly as course enrollment count increases.</a:t>
            </a:r>
          </a:p>
          <a:p>
            <a:r>
              <a:rPr lang="en-US" sz="2000" dirty="0">
                <a:solidFill>
                  <a:srgbClr val="1C7DDB"/>
                </a:solidFill>
                <a:latin typeface="Abadi"/>
                <a:cs typeface="Calibri"/>
              </a:rPr>
              <a:t>A few users enroll in 40+ courses, representing highly active or power users.</a:t>
            </a:r>
          </a:p>
          <a:p>
            <a:pPr>
              <a:buFontTx/>
              <a:buChar char="-"/>
            </a:pPr>
            <a:endParaRPr lang="en-US" sz="2200" dirty="0">
              <a:solidFill>
                <a:srgbClr val="1C7DDB"/>
              </a:solidFill>
              <a:latin typeface="Abadi"/>
              <a:cs typeface="Calibri"/>
            </a:endParaRPr>
          </a:p>
        </p:txBody>
      </p:sp>
      <p:pic>
        <p:nvPicPr>
          <p:cNvPr id="5" name="Picture 4">
            <a:extLst>
              <a:ext uri="{FF2B5EF4-FFF2-40B4-BE49-F238E27FC236}">
                <a16:creationId xmlns:a16="http://schemas.microsoft.com/office/drawing/2014/main" id="{9DBFD9C7-8368-B94B-B8B5-F759171FDBBD}"/>
              </a:ext>
            </a:extLst>
          </p:cNvPr>
          <p:cNvPicPr>
            <a:picLocks noChangeAspect="1"/>
          </p:cNvPicPr>
          <p:nvPr/>
        </p:nvPicPr>
        <p:blipFill>
          <a:blip r:embed="rId3"/>
          <a:stretch>
            <a:fillRect/>
          </a:stretch>
        </p:blipFill>
        <p:spPr>
          <a:xfrm>
            <a:off x="1793521" y="3429000"/>
            <a:ext cx="8639884" cy="3046058"/>
          </a:xfrm>
          <a:prstGeom prst="rect">
            <a:avLst/>
          </a:prstGeom>
        </p:spPr>
      </p:pic>
    </p:spTree>
    <p:extLst>
      <p:ext uri="{BB962C8B-B14F-4D97-AF65-F5344CB8AC3E}">
        <p14:creationId xmlns:p14="http://schemas.microsoft.com/office/powerpoint/2010/main" val="294570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20 most popular courses</a:t>
            </a:r>
          </a:p>
        </p:txBody>
      </p:sp>
      <p:pic>
        <p:nvPicPr>
          <p:cNvPr id="5" name="Picture 4">
            <a:extLst>
              <a:ext uri="{FF2B5EF4-FFF2-40B4-BE49-F238E27FC236}">
                <a16:creationId xmlns:a16="http://schemas.microsoft.com/office/drawing/2014/main" id="{B26DB8A5-7FCD-7A93-B2A2-D5A89F6D6B4E}"/>
              </a:ext>
            </a:extLst>
          </p:cNvPr>
          <p:cNvPicPr>
            <a:picLocks noChangeAspect="1"/>
          </p:cNvPicPr>
          <p:nvPr/>
        </p:nvPicPr>
        <p:blipFill>
          <a:blip r:embed="rId2"/>
          <a:stretch>
            <a:fillRect/>
          </a:stretch>
        </p:blipFill>
        <p:spPr>
          <a:xfrm>
            <a:off x="838200" y="1343422"/>
            <a:ext cx="5003307" cy="4906458"/>
          </a:xfrm>
          <a:prstGeom prst="rect">
            <a:avLst/>
          </a:prstGeom>
        </p:spPr>
      </p:pic>
      <p:sp>
        <p:nvSpPr>
          <p:cNvPr id="12" name="Content Placeholder 4">
            <a:extLst>
              <a:ext uri="{FF2B5EF4-FFF2-40B4-BE49-F238E27FC236}">
                <a16:creationId xmlns:a16="http://schemas.microsoft.com/office/drawing/2014/main" id="{A4D1CBA0-D4EF-0E4C-91FB-ACF90D54854A}"/>
              </a:ext>
            </a:extLst>
          </p:cNvPr>
          <p:cNvSpPr txBox="1">
            <a:spLocks/>
          </p:cNvSpPr>
          <p:nvPr/>
        </p:nvSpPr>
        <p:spPr>
          <a:xfrm>
            <a:off x="6516209" y="1539977"/>
            <a:ext cx="4687410" cy="4513348"/>
          </a:xfrm>
          <a:prstGeom prst="rect">
            <a:avLst/>
          </a:prstGeom>
          <a:ln>
            <a:solidFill>
              <a:srgbClr val="0B49CB"/>
            </a:solidFill>
            <a:prstDash val="dash"/>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1C7DDB"/>
                </a:solidFill>
                <a:latin typeface="Abadi"/>
              </a:rPr>
              <a:t>“Python for Data Science” is the highest-rated course, followed closely by “Introduction to Data Science” and “Big Data 101.”</a:t>
            </a:r>
          </a:p>
          <a:p>
            <a:r>
              <a:rPr lang="en-US" sz="2000" dirty="0">
                <a:solidFill>
                  <a:srgbClr val="1C7DDB"/>
                </a:solidFill>
                <a:latin typeface="Abadi"/>
              </a:rPr>
              <a:t>Data Science, Python, and Big Data courses dominate the rankings, indicating strong learner interest in these domains .</a:t>
            </a:r>
          </a:p>
          <a:p>
            <a:r>
              <a:rPr lang="en-US" sz="2000" dirty="0">
                <a:solidFill>
                  <a:srgbClr val="1C7DDB"/>
                </a:solidFill>
                <a:latin typeface="Abadi"/>
              </a:rPr>
              <a:t>Advanced topics such as Machine Learning, Deep Learning, and Chatbots also receive substantial ratings, reflecting growing demand for AI skills .</a:t>
            </a:r>
          </a:p>
          <a:p>
            <a:r>
              <a:rPr lang="en-US" sz="2000" dirty="0">
                <a:solidFill>
                  <a:srgbClr val="1C7DDB"/>
                </a:solidFill>
                <a:latin typeface="Abadi"/>
              </a:rPr>
              <a:t>Foundational courses like Statistics, SQL, and Cloud Computing remain popular, highlighting the importance of core technical knowledge.</a:t>
            </a:r>
          </a:p>
          <a:p>
            <a:pPr>
              <a:buFontTx/>
              <a:buChar char="-"/>
            </a:pPr>
            <a:endParaRPr lang="en-US" sz="2200" dirty="0">
              <a:solidFill>
                <a:srgbClr val="1C7DDB"/>
              </a:solidFill>
              <a:latin typeface="Abadi"/>
              <a:cs typeface="Calibri"/>
            </a:endParaRPr>
          </a:p>
        </p:txBody>
      </p:sp>
    </p:spTree>
    <p:extLst>
      <p:ext uri="{BB962C8B-B14F-4D97-AF65-F5344CB8AC3E}">
        <p14:creationId xmlns:p14="http://schemas.microsoft.com/office/powerpoint/2010/main" val="28187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Word cloud of course titles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38200" y="4918229"/>
            <a:ext cx="10515600" cy="1325563"/>
          </a:xfrm>
          <a:prstGeom prst="rect">
            <a:avLst/>
          </a:prstGeom>
          <a:ln>
            <a:solidFill>
              <a:srgbClr val="0B49CB"/>
            </a:solidFill>
            <a:prstDash val="dash"/>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1C7DDB"/>
                </a:solidFill>
                <a:latin typeface="Abadi"/>
              </a:rPr>
              <a:t>Data Science and Python are the most prominent terms, indicating their dominance in the course catalog.</a:t>
            </a:r>
          </a:p>
          <a:p>
            <a:r>
              <a:rPr lang="en-US" sz="2000" dirty="0">
                <a:solidFill>
                  <a:srgbClr val="1C7DDB"/>
                </a:solidFill>
                <a:latin typeface="Abadi"/>
              </a:rPr>
              <a:t>Machine Learning, Data Analysis, and Cloud Computing appear frequently, reflecting strong industry demand.</a:t>
            </a:r>
          </a:p>
          <a:p>
            <a:r>
              <a:rPr lang="en-US" sz="2000" dirty="0">
                <a:solidFill>
                  <a:srgbClr val="1C7DDB"/>
                </a:solidFill>
                <a:latin typeface="Abadi"/>
              </a:rPr>
              <a:t>The word cloud reveals a focus on both data-centric and software development technologies.</a:t>
            </a:r>
          </a:p>
          <a:p>
            <a:r>
              <a:rPr lang="en-US" sz="2000" dirty="0">
                <a:solidFill>
                  <a:srgbClr val="1C7DDB"/>
                </a:solidFill>
                <a:latin typeface="Abadi"/>
              </a:rPr>
              <a:t>Emerging topics such as Microservices, Kubernetes, Deep Learning, and AI are also well represented.</a:t>
            </a:r>
            <a:endParaRPr lang="en-US" sz="2400" dirty="0">
              <a:cs typeface="Calibri"/>
            </a:endParaRPr>
          </a:p>
        </p:txBody>
      </p:sp>
      <p:pic>
        <p:nvPicPr>
          <p:cNvPr id="7" name="Picture 6">
            <a:extLst>
              <a:ext uri="{FF2B5EF4-FFF2-40B4-BE49-F238E27FC236}">
                <a16:creationId xmlns:a16="http://schemas.microsoft.com/office/drawing/2014/main" id="{85245DDF-52AE-7A7C-C19F-6FDD1721763D}"/>
              </a:ext>
            </a:extLst>
          </p:cNvPr>
          <p:cNvPicPr>
            <a:picLocks noChangeAspect="1"/>
          </p:cNvPicPr>
          <p:nvPr/>
        </p:nvPicPr>
        <p:blipFill>
          <a:blip r:embed="rId3"/>
          <a:stretch>
            <a:fillRect/>
          </a:stretch>
        </p:blipFill>
        <p:spPr>
          <a:xfrm>
            <a:off x="838200" y="1027906"/>
            <a:ext cx="7282694" cy="3595457"/>
          </a:xfrm>
          <a:prstGeom prst="rect">
            <a:avLst/>
          </a:prstGeom>
        </p:spPr>
      </p:pic>
    </p:spTree>
    <p:extLst>
      <p:ext uri="{BB962C8B-B14F-4D97-AF65-F5344CB8AC3E}">
        <p14:creationId xmlns:p14="http://schemas.microsoft.com/office/powerpoint/2010/main" val="126893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user profile and course genres</a:t>
            </a:r>
          </a:p>
        </p:txBody>
      </p:sp>
      <p:pic>
        <p:nvPicPr>
          <p:cNvPr id="8" name="Picture 7">
            <a:extLst>
              <a:ext uri="{FF2B5EF4-FFF2-40B4-BE49-F238E27FC236}">
                <a16:creationId xmlns:a16="http://schemas.microsoft.com/office/drawing/2014/main" id="{A975C9AF-A54A-CA16-C35C-DD3954C78A04}"/>
              </a:ext>
            </a:extLst>
          </p:cNvPr>
          <p:cNvPicPr>
            <a:picLocks noChangeAspect="1"/>
          </p:cNvPicPr>
          <p:nvPr/>
        </p:nvPicPr>
        <p:blipFill>
          <a:blip r:embed="rId3"/>
          <a:srcRect r="5905" b="1306"/>
          <a:stretch>
            <a:fillRect/>
          </a:stretch>
        </p:blipFill>
        <p:spPr>
          <a:xfrm>
            <a:off x="481177" y="1690688"/>
            <a:ext cx="5160344" cy="4710112"/>
          </a:xfrm>
          <a:prstGeom prst="rect">
            <a:avLst/>
          </a:prstGeom>
        </p:spPr>
      </p:pic>
      <p:pic>
        <p:nvPicPr>
          <p:cNvPr id="17" name="Picture 16">
            <a:extLst>
              <a:ext uri="{FF2B5EF4-FFF2-40B4-BE49-F238E27FC236}">
                <a16:creationId xmlns:a16="http://schemas.microsoft.com/office/drawing/2014/main" id="{DBE1D54B-DE11-95B1-C58B-94C6B77C86CB}"/>
              </a:ext>
            </a:extLst>
          </p:cNvPr>
          <p:cNvPicPr>
            <a:picLocks noChangeAspect="1"/>
          </p:cNvPicPr>
          <p:nvPr/>
        </p:nvPicPr>
        <p:blipFill>
          <a:blip r:embed="rId4"/>
          <a:srcRect t="1546"/>
          <a:stretch>
            <a:fillRect/>
          </a:stretch>
        </p:blipFill>
        <p:spPr>
          <a:xfrm>
            <a:off x="6293198" y="1727087"/>
            <a:ext cx="5060602" cy="4637314"/>
          </a:xfrm>
          <a:prstGeom prst="rect">
            <a:avLst/>
          </a:prstGeom>
        </p:spPr>
      </p:pic>
      <p:cxnSp>
        <p:nvCxnSpPr>
          <p:cNvPr id="19" name="Straight Arrow Connector 18">
            <a:extLst>
              <a:ext uri="{FF2B5EF4-FFF2-40B4-BE49-F238E27FC236}">
                <a16:creationId xmlns:a16="http://schemas.microsoft.com/office/drawing/2014/main" id="{425C32F3-0D7B-277E-DD4F-63E6A699005C}"/>
              </a:ext>
            </a:extLst>
          </p:cNvPr>
          <p:cNvCxnSpPr>
            <a:stCxn id="8" idx="3"/>
            <a:endCxn id="17" idx="1"/>
          </p:cNvCxnSpPr>
          <p:nvPr/>
        </p:nvCxnSpPr>
        <p:spPr>
          <a:xfrm>
            <a:off x="5641521" y="4045744"/>
            <a:ext cx="6516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6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user profile-based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537962" y="2601382"/>
            <a:ext cx="4720206" cy="404383"/>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Top-10 commonly recommended courses:</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2803574"/>
            <a:ext cx="4720206" cy="2694372"/>
          </a:xfrm>
          <a:prstGeom prst="rect">
            <a:avLst/>
          </a:prstGeom>
          <a:ln>
            <a:solidFill>
              <a:srgbClr val="0B49CB"/>
            </a:solidFill>
            <a:prstDash val="dash"/>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Across 33,901 test users, the system generated 1,500,424 total recommendation rows. Average new courses recommended per user: ~44.3 courses. To control list length, a cap of 20 per user is recommended. No similarity threshold was used — scores are raw dot products between user genre vectors and course genre vectors, so all unseen courses with a score &gt; 0 were included.</a:t>
            </a:r>
            <a:endParaRPr lang="en-US" sz="2400" dirty="0">
              <a:cs typeface="Calibr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768452"/>
            <a:ext cx="10419966" cy="6973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Score threshold: none (all unseen courses scored via dot product). Recommendation cap: top 20 courses per user. Scaling: </a:t>
            </a:r>
            <a:r>
              <a:rPr lang="en-US" sz="2000" dirty="0" err="1">
                <a:solidFill>
                  <a:srgbClr val="1C7DDB"/>
                </a:solidFill>
                <a:latin typeface="Abadi"/>
              </a:rPr>
              <a:t>StandardScaler</a:t>
            </a:r>
            <a:r>
              <a:rPr lang="en-US" sz="2000" dirty="0">
                <a:solidFill>
                  <a:srgbClr val="1C7DDB"/>
                </a:solidFill>
                <a:latin typeface="Abadi"/>
              </a:rPr>
              <a:t> applied to user profile vectors before scoring.</a:t>
            </a:r>
            <a:endParaRPr lang="en-US" sz="2400" dirty="0">
              <a:cs typeface="Calibri"/>
            </a:endParaRPr>
          </a:p>
        </p:txBody>
      </p:sp>
      <p:pic>
        <p:nvPicPr>
          <p:cNvPr id="3" name="Picture 2">
            <a:extLst>
              <a:ext uri="{FF2B5EF4-FFF2-40B4-BE49-F238E27FC236}">
                <a16:creationId xmlns:a16="http://schemas.microsoft.com/office/drawing/2014/main" id="{2DB7B00B-3A65-5BA8-C955-53C904538393}"/>
              </a:ext>
            </a:extLst>
          </p:cNvPr>
          <p:cNvPicPr>
            <a:picLocks noChangeAspect="1"/>
          </p:cNvPicPr>
          <p:nvPr/>
        </p:nvPicPr>
        <p:blipFill>
          <a:blip r:embed="rId2"/>
          <a:stretch>
            <a:fillRect/>
          </a:stretch>
        </p:blipFill>
        <p:spPr>
          <a:xfrm>
            <a:off x="6537962" y="3141349"/>
            <a:ext cx="4720206" cy="3324689"/>
          </a:xfrm>
          <a:prstGeom prst="rect">
            <a:avLst/>
          </a:prstGeom>
        </p:spPr>
      </p:pic>
    </p:spTree>
    <p:extLst>
      <p:ext uri="{BB962C8B-B14F-4D97-AF65-F5344CB8AC3E}">
        <p14:creationId xmlns:p14="http://schemas.microsoft.com/office/powerpoint/2010/main" val="30248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content-based recommender system using course similarity</a:t>
            </a:r>
          </a:p>
        </p:txBody>
      </p:sp>
      <p:pic>
        <p:nvPicPr>
          <p:cNvPr id="21" name="Picture 20">
            <a:extLst>
              <a:ext uri="{FF2B5EF4-FFF2-40B4-BE49-F238E27FC236}">
                <a16:creationId xmlns:a16="http://schemas.microsoft.com/office/drawing/2014/main" id="{B77694D2-8E62-FFCC-E2B0-7A31D3A70295}"/>
              </a:ext>
            </a:extLst>
          </p:cNvPr>
          <p:cNvPicPr>
            <a:picLocks noChangeAspect="1"/>
          </p:cNvPicPr>
          <p:nvPr/>
        </p:nvPicPr>
        <p:blipFill>
          <a:blip r:embed="rId3"/>
          <a:srcRect t="1" b="8883"/>
          <a:stretch>
            <a:fillRect/>
          </a:stretch>
        </p:blipFill>
        <p:spPr>
          <a:xfrm>
            <a:off x="311153" y="1715181"/>
            <a:ext cx="5469161" cy="4359048"/>
          </a:xfrm>
          <a:prstGeom prst="rect">
            <a:avLst/>
          </a:prstGeom>
        </p:spPr>
      </p:pic>
      <p:pic>
        <p:nvPicPr>
          <p:cNvPr id="23" name="Picture 22">
            <a:extLst>
              <a:ext uri="{FF2B5EF4-FFF2-40B4-BE49-F238E27FC236}">
                <a16:creationId xmlns:a16="http://schemas.microsoft.com/office/drawing/2014/main" id="{6B87CDE5-49FF-96C6-6939-04AA06FE11C8}"/>
              </a:ext>
            </a:extLst>
          </p:cNvPr>
          <p:cNvPicPr>
            <a:picLocks noChangeAspect="1"/>
          </p:cNvPicPr>
          <p:nvPr/>
        </p:nvPicPr>
        <p:blipFill>
          <a:blip r:embed="rId4"/>
          <a:srcRect t="4582"/>
          <a:stretch>
            <a:fillRect/>
          </a:stretch>
        </p:blipFill>
        <p:spPr>
          <a:xfrm>
            <a:off x="6411688" y="2032906"/>
            <a:ext cx="5469161" cy="3856777"/>
          </a:xfrm>
          <a:prstGeom prst="rect">
            <a:avLst/>
          </a:prstGeom>
        </p:spPr>
      </p:pic>
      <p:cxnSp>
        <p:nvCxnSpPr>
          <p:cNvPr id="25" name="Straight Arrow Connector 24">
            <a:extLst>
              <a:ext uri="{FF2B5EF4-FFF2-40B4-BE49-F238E27FC236}">
                <a16:creationId xmlns:a16="http://schemas.microsoft.com/office/drawing/2014/main" id="{FFC892E3-0E74-BCEC-FD07-C5D012AE574C}"/>
              </a:ext>
            </a:extLst>
          </p:cNvPr>
          <p:cNvCxnSpPr>
            <a:cxnSpLocks/>
            <a:stCxn id="21" idx="3"/>
          </p:cNvCxnSpPr>
          <p:nvPr/>
        </p:nvCxnSpPr>
        <p:spPr>
          <a:xfrm>
            <a:off x="5780314" y="3894705"/>
            <a:ext cx="6313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15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course similarity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5883926" y="2765426"/>
            <a:ext cx="5374240" cy="385558"/>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Top-10 Commonly Recommended Courses:</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838200" y="2990487"/>
            <a:ext cx="4720206" cy="2707320"/>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Across 33,901 test users, the system generated recommendations by comparing each user's enrolled courses against all unseen courses in the 307-course catalog. Average new courses recommended per user: ~14.97. Total users with at least one recommendation received personalized lists based on </a:t>
            </a:r>
            <a:r>
              <a:rPr lang="en-US" sz="2000" dirty="0" err="1">
                <a:solidFill>
                  <a:srgbClr val="1C7DDB"/>
                </a:solidFill>
                <a:latin typeface="Abadi"/>
              </a:rPr>
              <a:t>BoW</a:t>
            </a:r>
            <a:r>
              <a:rPr lang="en-US" sz="2000" dirty="0">
                <a:solidFill>
                  <a:srgbClr val="1C7DDB"/>
                </a:solidFill>
                <a:latin typeface="Abadi"/>
              </a:rPr>
              <a:t> similarity scores ≥ 0.6.</a:t>
            </a:r>
            <a:endParaRPr lang="en-US" sz="2400" dirty="0">
              <a:cs typeface="Calibr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838200" y="1690688"/>
            <a:ext cx="10419966" cy="929222"/>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Similarity metric: Bag of Words (</a:t>
            </a:r>
            <a:r>
              <a:rPr lang="en-US" sz="2000" dirty="0" err="1">
                <a:solidFill>
                  <a:srgbClr val="1C7DDB"/>
                </a:solidFill>
                <a:latin typeface="Abadi"/>
              </a:rPr>
              <a:t>BoW</a:t>
            </a:r>
            <a:r>
              <a:rPr lang="en-US" sz="2000" dirty="0">
                <a:solidFill>
                  <a:srgbClr val="1C7DDB"/>
                </a:solidFill>
                <a:latin typeface="Abadi"/>
              </a:rPr>
              <a:t>) cosine similarity. Similarity threshold: 0.6 (courses with similarity ≥ 0.6 are recommended). Recommendation cap: top 20 per user. Index mapping: bidirectional </a:t>
            </a:r>
            <a:r>
              <a:rPr lang="en-US" sz="2000" dirty="0" err="1">
                <a:solidFill>
                  <a:srgbClr val="1C7DDB"/>
                </a:solidFill>
                <a:latin typeface="Abadi"/>
              </a:rPr>
              <a:t>dict</a:t>
            </a:r>
            <a:r>
              <a:rPr lang="en-US" sz="2000" dirty="0">
                <a:solidFill>
                  <a:srgbClr val="1C7DDB"/>
                </a:solidFill>
                <a:latin typeface="Abadi"/>
              </a:rPr>
              <a:t> built from courses_bows.csv.</a:t>
            </a:r>
            <a:endParaRPr lang="en-US" sz="2400" dirty="0">
              <a:cs typeface="Calibri"/>
            </a:endParaRPr>
          </a:p>
        </p:txBody>
      </p:sp>
      <p:pic>
        <p:nvPicPr>
          <p:cNvPr id="3" name="Picture 2">
            <a:extLst>
              <a:ext uri="{FF2B5EF4-FFF2-40B4-BE49-F238E27FC236}">
                <a16:creationId xmlns:a16="http://schemas.microsoft.com/office/drawing/2014/main" id="{3AAEC8C5-7235-4347-576C-47837B3B4FB6}"/>
              </a:ext>
            </a:extLst>
          </p:cNvPr>
          <p:cNvPicPr>
            <a:picLocks noChangeAspect="1"/>
          </p:cNvPicPr>
          <p:nvPr/>
        </p:nvPicPr>
        <p:blipFill>
          <a:blip r:embed="rId2"/>
          <a:srcRect t="3853" b="3757"/>
          <a:stretch>
            <a:fillRect/>
          </a:stretch>
        </p:blipFill>
        <p:spPr>
          <a:xfrm>
            <a:off x="5883926" y="3296500"/>
            <a:ext cx="5374240" cy="3177283"/>
          </a:xfrm>
          <a:prstGeom prst="rect">
            <a:avLst/>
          </a:prstGeom>
        </p:spPr>
      </p:pic>
    </p:spTree>
    <p:extLst>
      <p:ext uri="{BB962C8B-B14F-4D97-AF65-F5344CB8AC3E}">
        <p14:creationId xmlns:p14="http://schemas.microsoft.com/office/powerpoint/2010/main" val="36763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clustering-based recommender system</a:t>
            </a:r>
          </a:p>
        </p:txBody>
      </p:sp>
      <p:pic>
        <p:nvPicPr>
          <p:cNvPr id="7" name="Picture 6">
            <a:extLst>
              <a:ext uri="{FF2B5EF4-FFF2-40B4-BE49-F238E27FC236}">
                <a16:creationId xmlns:a16="http://schemas.microsoft.com/office/drawing/2014/main" id="{674AF744-2909-CFC2-0029-CA4CC35305A1}"/>
              </a:ext>
            </a:extLst>
          </p:cNvPr>
          <p:cNvPicPr>
            <a:picLocks noChangeAspect="1"/>
          </p:cNvPicPr>
          <p:nvPr/>
        </p:nvPicPr>
        <p:blipFill>
          <a:blip r:embed="rId3"/>
          <a:srcRect b="1305"/>
          <a:stretch>
            <a:fillRect/>
          </a:stretch>
        </p:blipFill>
        <p:spPr>
          <a:xfrm>
            <a:off x="838200" y="1608365"/>
            <a:ext cx="4742763" cy="4506685"/>
          </a:xfrm>
          <a:prstGeom prst="rect">
            <a:avLst/>
          </a:prstGeom>
        </p:spPr>
      </p:pic>
      <p:pic>
        <p:nvPicPr>
          <p:cNvPr id="11" name="Picture 10">
            <a:extLst>
              <a:ext uri="{FF2B5EF4-FFF2-40B4-BE49-F238E27FC236}">
                <a16:creationId xmlns:a16="http://schemas.microsoft.com/office/drawing/2014/main" id="{0B7D4D74-632C-0F2A-D31C-D6BDC98C0F1A}"/>
              </a:ext>
            </a:extLst>
          </p:cNvPr>
          <p:cNvPicPr>
            <a:picLocks noChangeAspect="1"/>
          </p:cNvPicPr>
          <p:nvPr/>
        </p:nvPicPr>
        <p:blipFill>
          <a:blip r:embed="rId4"/>
          <a:srcRect t="2298" b="1163"/>
          <a:stretch>
            <a:fillRect/>
          </a:stretch>
        </p:blipFill>
        <p:spPr>
          <a:xfrm>
            <a:off x="6260251" y="1198450"/>
            <a:ext cx="5093549" cy="5326516"/>
          </a:xfrm>
          <a:prstGeom prst="rect">
            <a:avLst/>
          </a:prstGeom>
        </p:spPr>
      </p:pic>
      <p:cxnSp>
        <p:nvCxnSpPr>
          <p:cNvPr id="18" name="Straight Arrow Connector 17">
            <a:extLst>
              <a:ext uri="{FF2B5EF4-FFF2-40B4-BE49-F238E27FC236}">
                <a16:creationId xmlns:a16="http://schemas.microsoft.com/office/drawing/2014/main" id="{FDADA6DB-FC5B-813F-F6A4-2D337D3059D9}"/>
              </a:ext>
            </a:extLst>
          </p:cNvPr>
          <p:cNvCxnSpPr>
            <a:stCxn id="7" idx="3"/>
            <a:endCxn id="11" idx="1"/>
          </p:cNvCxnSpPr>
          <p:nvPr/>
        </p:nvCxnSpPr>
        <p:spPr>
          <a:xfrm>
            <a:off x="5580963" y="3861708"/>
            <a:ext cx="6792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Evaluation results of clustering-based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633594" y="2737963"/>
            <a:ext cx="4720206" cy="380341"/>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Top-10 commonly recommended courses</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2928134"/>
            <a:ext cx="4720206" cy="3348983"/>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Across 33,897 test users (4 users had no cluster match), the system generated 677,671 total recommendation rows. Average new courses recommended per user: ~19.99. Minimum: 1 course, maximum: 20 courses. Cluster sizes ranged from 20 users (cluster 3, very niche interests) to 11,774 users (cluster 1, largest group). Users in smaller, more </a:t>
            </a:r>
            <a:r>
              <a:rPr lang="en-US" sz="2000" dirty="0" err="1">
                <a:solidFill>
                  <a:srgbClr val="1C7DDB"/>
                </a:solidFill>
                <a:latin typeface="Abadi"/>
              </a:rPr>
              <a:t>specialised</a:t>
            </a:r>
            <a:r>
              <a:rPr lang="en-US" sz="2000" dirty="0">
                <a:solidFill>
                  <a:srgbClr val="1C7DDB"/>
                </a:solidFill>
                <a:latin typeface="Abadi"/>
              </a:rPr>
              <a:t> clusters received more targeted recommendations.</a:t>
            </a:r>
            <a:endParaRPr lang="en-US" sz="2400" dirty="0">
              <a:cs typeface="Calibr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9"/>
            <a:ext cx="10419966" cy="970318"/>
          </a:xfrm>
          <a:prstGeom prst="rect">
            <a:avLst/>
          </a:prstGeom>
          <a:ln>
            <a:solidFill>
              <a:srgbClr val="0B49CB"/>
            </a:solidFill>
            <a:prstDash val="dash"/>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1C7DDB"/>
                </a:solidFill>
                <a:latin typeface="Abadi"/>
              </a:rPr>
              <a:t>Algorithm: K-means. Number of clusters (k): 8, chosen via elbow method (SSE grid search over k = 2–20). Feature preprocessing: </a:t>
            </a:r>
            <a:r>
              <a:rPr lang="en-US" sz="1800" dirty="0" err="1">
                <a:solidFill>
                  <a:srgbClr val="1C7DDB"/>
                </a:solidFill>
                <a:latin typeface="Abadi"/>
              </a:rPr>
              <a:t>StandardScaler</a:t>
            </a:r>
            <a:r>
              <a:rPr lang="en-US" sz="1800" dirty="0">
                <a:solidFill>
                  <a:srgbClr val="1C7DDB"/>
                </a:solidFill>
                <a:latin typeface="Abadi"/>
              </a:rPr>
              <a:t> (mean 0, std 1). Optional PCA: 9 principal components (≥90% variance explained). Popularity threshold: courses with cluster enrollment count ≥ 10 qualify. Recommendation cap: top 20 per user.</a:t>
            </a:r>
            <a:endParaRPr lang="en-US" sz="2000" dirty="0">
              <a:cs typeface="Calibri"/>
            </a:endParaRPr>
          </a:p>
        </p:txBody>
      </p:sp>
      <p:pic>
        <p:nvPicPr>
          <p:cNvPr id="3" name="Picture 2">
            <a:extLst>
              <a:ext uri="{FF2B5EF4-FFF2-40B4-BE49-F238E27FC236}">
                <a16:creationId xmlns:a16="http://schemas.microsoft.com/office/drawing/2014/main" id="{1C4A9940-90C6-937F-150B-9DBAFF87D4A4}"/>
              </a:ext>
            </a:extLst>
          </p:cNvPr>
          <p:cNvPicPr>
            <a:picLocks noChangeAspect="1"/>
          </p:cNvPicPr>
          <p:nvPr/>
        </p:nvPicPr>
        <p:blipFill>
          <a:blip r:embed="rId2"/>
          <a:stretch>
            <a:fillRect/>
          </a:stretch>
        </p:blipFill>
        <p:spPr>
          <a:xfrm>
            <a:off x="6633594" y="3195260"/>
            <a:ext cx="4720207" cy="3092995"/>
          </a:xfrm>
          <a:prstGeom prst="rect">
            <a:avLst/>
          </a:prstGeom>
        </p:spPr>
      </p:pic>
    </p:spTree>
    <p:extLst>
      <p:ext uri="{BB962C8B-B14F-4D97-AF65-F5344CB8AC3E}">
        <p14:creationId xmlns:p14="http://schemas.microsoft.com/office/powerpoint/2010/main" val="211599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2071"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57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KNN based recommender system</a:t>
            </a:r>
          </a:p>
        </p:txBody>
      </p:sp>
      <p:pic>
        <p:nvPicPr>
          <p:cNvPr id="7" name="Picture 6">
            <a:extLst>
              <a:ext uri="{FF2B5EF4-FFF2-40B4-BE49-F238E27FC236}">
                <a16:creationId xmlns:a16="http://schemas.microsoft.com/office/drawing/2014/main" id="{897C5785-EFFC-9EAA-E2DB-C26233559BDC}"/>
              </a:ext>
            </a:extLst>
          </p:cNvPr>
          <p:cNvPicPr>
            <a:picLocks noChangeAspect="1"/>
          </p:cNvPicPr>
          <p:nvPr/>
        </p:nvPicPr>
        <p:blipFill>
          <a:blip r:embed="rId2"/>
          <a:srcRect l="2458" b="2928"/>
          <a:stretch>
            <a:fillRect/>
          </a:stretch>
        </p:blipFill>
        <p:spPr>
          <a:xfrm>
            <a:off x="690039" y="1027906"/>
            <a:ext cx="5005896" cy="5712432"/>
          </a:xfrm>
          <a:prstGeom prst="rect">
            <a:avLst/>
          </a:prstGeom>
        </p:spPr>
      </p:pic>
      <p:pic>
        <p:nvPicPr>
          <p:cNvPr id="11" name="Picture 10">
            <a:extLst>
              <a:ext uri="{FF2B5EF4-FFF2-40B4-BE49-F238E27FC236}">
                <a16:creationId xmlns:a16="http://schemas.microsoft.com/office/drawing/2014/main" id="{6A938A18-EDDD-1B3D-2D73-764EA90D8E8A}"/>
              </a:ext>
            </a:extLst>
          </p:cNvPr>
          <p:cNvPicPr>
            <a:picLocks noChangeAspect="1"/>
          </p:cNvPicPr>
          <p:nvPr/>
        </p:nvPicPr>
        <p:blipFill>
          <a:blip r:embed="rId3"/>
          <a:srcRect t="1391" b="2497"/>
          <a:stretch>
            <a:fillRect/>
          </a:stretch>
        </p:blipFill>
        <p:spPr>
          <a:xfrm>
            <a:off x="6347903" y="1351542"/>
            <a:ext cx="5005897" cy="5065159"/>
          </a:xfrm>
          <a:prstGeom prst="rect">
            <a:avLst/>
          </a:prstGeom>
        </p:spPr>
      </p:pic>
      <p:cxnSp>
        <p:nvCxnSpPr>
          <p:cNvPr id="18" name="Straight Arrow Connector 17">
            <a:extLst>
              <a:ext uri="{FF2B5EF4-FFF2-40B4-BE49-F238E27FC236}">
                <a16:creationId xmlns:a16="http://schemas.microsoft.com/office/drawing/2014/main" id="{C88BF5E6-3F85-015D-B1F7-2785D102A656}"/>
              </a:ext>
            </a:extLst>
          </p:cNvPr>
          <p:cNvCxnSpPr>
            <a:stCxn id="7" idx="3"/>
            <a:endCxn id="11" idx="1"/>
          </p:cNvCxnSpPr>
          <p:nvPr/>
        </p:nvCxnSpPr>
        <p:spPr>
          <a:xfrm>
            <a:off x="5695935" y="3884122"/>
            <a:ext cx="6519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26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NMF based recommender system</a:t>
            </a:r>
          </a:p>
        </p:txBody>
      </p:sp>
      <p:pic>
        <p:nvPicPr>
          <p:cNvPr id="7" name="Picture 6">
            <a:extLst>
              <a:ext uri="{FF2B5EF4-FFF2-40B4-BE49-F238E27FC236}">
                <a16:creationId xmlns:a16="http://schemas.microsoft.com/office/drawing/2014/main" id="{2D0AD0B6-253A-F894-A6E4-FBD0E068F4A4}"/>
              </a:ext>
            </a:extLst>
          </p:cNvPr>
          <p:cNvPicPr>
            <a:picLocks noChangeAspect="1"/>
          </p:cNvPicPr>
          <p:nvPr/>
        </p:nvPicPr>
        <p:blipFill>
          <a:blip r:embed="rId2"/>
          <a:srcRect l="1924" b="4179"/>
          <a:stretch>
            <a:fillRect/>
          </a:stretch>
        </p:blipFill>
        <p:spPr>
          <a:xfrm>
            <a:off x="447189" y="955987"/>
            <a:ext cx="5161052" cy="5804015"/>
          </a:xfrm>
          <a:prstGeom prst="rect">
            <a:avLst/>
          </a:prstGeom>
        </p:spPr>
      </p:pic>
      <p:pic>
        <p:nvPicPr>
          <p:cNvPr id="11" name="Picture 10">
            <a:extLst>
              <a:ext uri="{FF2B5EF4-FFF2-40B4-BE49-F238E27FC236}">
                <a16:creationId xmlns:a16="http://schemas.microsoft.com/office/drawing/2014/main" id="{A135471B-0FF1-4047-9461-B83C60D4C105}"/>
              </a:ext>
            </a:extLst>
          </p:cNvPr>
          <p:cNvPicPr>
            <a:picLocks noChangeAspect="1"/>
          </p:cNvPicPr>
          <p:nvPr/>
        </p:nvPicPr>
        <p:blipFill>
          <a:blip r:embed="rId3"/>
          <a:srcRect t="2670"/>
          <a:stretch>
            <a:fillRect/>
          </a:stretch>
        </p:blipFill>
        <p:spPr>
          <a:xfrm>
            <a:off x="6096000" y="1797939"/>
            <a:ext cx="5745559" cy="4120109"/>
          </a:xfrm>
          <a:prstGeom prst="rect">
            <a:avLst/>
          </a:prstGeom>
        </p:spPr>
      </p:pic>
      <p:cxnSp>
        <p:nvCxnSpPr>
          <p:cNvPr id="18" name="Straight Arrow Connector 17">
            <a:extLst>
              <a:ext uri="{FF2B5EF4-FFF2-40B4-BE49-F238E27FC236}">
                <a16:creationId xmlns:a16="http://schemas.microsoft.com/office/drawing/2014/main" id="{790FDD9B-CFAA-AF50-F954-579FC120B650}"/>
              </a:ext>
            </a:extLst>
          </p:cNvPr>
          <p:cNvCxnSpPr>
            <a:stCxn id="7" idx="3"/>
          </p:cNvCxnSpPr>
          <p:nvPr/>
        </p:nvCxnSpPr>
        <p:spPr>
          <a:xfrm flipV="1">
            <a:off x="5608241" y="3857994"/>
            <a:ext cx="48775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93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200" y="179841"/>
            <a:ext cx="10515600" cy="1325563"/>
          </a:xfrm>
        </p:spPr>
        <p:txBody>
          <a:bodyPr/>
          <a:lstStyle/>
          <a:p>
            <a:r>
              <a:rPr lang="en-US" sz="4000" dirty="0">
                <a:solidFill>
                  <a:srgbClr val="0B49CB"/>
                </a:solidFill>
                <a:latin typeface="Abadi"/>
              </a:rPr>
              <a:t>Flowchart of Neural Network Embedding based recommender system</a:t>
            </a:r>
          </a:p>
        </p:txBody>
      </p:sp>
      <p:pic>
        <p:nvPicPr>
          <p:cNvPr id="7" name="Picture 6">
            <a:extLst>
              <a:ext uri="{FF2B5EF4-FFF2-40B4-BE49-F238E27FC236}">
                <a16:creationId xmlns:a16="http://schemas.microsoft.com/office/drawing/2014/main" id="{A5552704-DFE2-D4BB-7792-A19AA585AD33}"/>
              </a:ext>
            </a:extLst>
          </p:cNvPr>
          <p:cNvPicPr>
            <a:picLocks noChangeAspect="1"/>
          </p:cNvPicPr>
          <p:nvPr/>
        </p:nvPicPr>
        <p:blipFill>
          <a:blip r:embed="rId2"/>
          <a:stretch>
            <a:fillRect/>
          </a:stretch>
        </p:blipFill>
        <p:spPr>
          <a:xfrm>
            <a:off x="838200" y="1418031"/>
            <a:ext cx="4931597" cy="5352595"/>
          </a:xfrm>
          <a:prstGeom prst="rect">
            <a:avLst/>
          </a:prstGeom>
        </p:spPr>
      </p:pic>
      <p:pic>
        <p:nvPicPr>
          <p:cNvPr id="11" name="Picture 10">
            <a:extLst>
              <a:ext uri="{FF2B5EF4-FFF2-40B4-BE49-F238E27FC236}">
                <a16:creationId xmlns:a16="http://schemas.microsoft.com/office/drawing/2014/main" id="{37F25C38-8AA9-1DAD-258C-F514E57CA656}"/>
              </a:ext>
            </a:extLst>
          </p:cNvPr>
          <p:cNvPicPr>
            <a:picLocks noChangeAspect="1"/>
          </p:cNvPicPr>
          <p:nvPr/>
        </p:nvPicPr>
        <p:blipFill>
          <a:blip r:embed="rId3"/>
          <a:srcRect l="5283" t="1476" r="5515" b="1"/>
          <a:stretch>
            <a:fillRect/>
          </a:stretch>
        </p:blipFill>
        <p:spPr>
          <a:xfrm>
            <a:off x="6422205" y="1741686"/>
            <a:ext cx="5173976" cy="4705283"/>
          </a:xfrm>
          <a:prstGeom prst="rect">
            <a:avLst/>
          </a:prstGeom>
        </p:spPr>
      </p:pic>
      <p:cxnSp>
        <p:nvCxnSpPr>
          <p:cNvPr id="18" name="Straight Arrow Connector 17">
            <a:extLst>
              <a:ext uri="{FF2B5EF4-FFF2-40B4-BE49-F238E27FC236}">
                <a16:creationId xmlns:a16="http://schemas.microsoft.com/office/drawing/2014/main" id="{E90BC3D1-4DB8-AA3A-F826-3C4F8BE4E928}"/>
              </a:ext>
            </a:extLst>
          </p:cNvPr>
          <p:cNvCxnSpPr>
            <a:stCxn id="7" idx="3"/>
            <a:endCxn id="11" idx="1"/>
          </p:cNvCxnSpPr>
          <p:nvPr/>
        </p:nvCxnSpPr>
        <p:spPr>
          <a:xfrm flipV="1">
            <a:off x="5769797" y="4094328"/>
            <a:ext cx="65240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0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Compare the performance of collaborative-filtering models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38199" y="5043823"/>
            <a:ext cx="10515600" cy="1644654"/>
          </a:xfrm>
          <a:prstGeom prst="rect">
            <a:avLst/>
          </a:prstGeom>
          <a:ln>
            <a:solidFill>
              <a:srgbClr val="0B49CB"/>
            </a:solidFill>
            <a:prstDash val="dash"/>
          </a:ln>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This chart compares RMSE across collaborative-filtering models built so far. KNN user-based collaborative filtering (MSD similarity, k=40) achieved a low RMSE of 0.1905, performing close to the Neural Network Embedding model (0.1380). Both NMF configurations via Surprise (15 and 32 latent factors) converged to an identical RMSE of 1.2891, while the manual </a:t>
            </a:r>
            <a:r>
              <a:rPr lang="en-US" sz="2000" dirty="0" err="1">
                <a:solidFill>
                  <a:srgbClr val="1C7DDB"/>
                </a:solidFill>
                <a:latin typeface="Abadi"/>
              </a:rPr>
              <a:t>sklearn</a:t>
            </a:r>
            <a:r>
              <a:rPr lang="en-US" sz="2000" dirty="0">
                <a:solidFill>
                  <a:srgbClr val="1C7DDB"/>
                </a:solidFill>
                <a:latin typeface="Abadi"/>
              </a:rPr>
              <a:t> NMF implementation performed considerably worse (3.5922), likely due to random initialization without bias terms or regularization. Overall, the Neural Network Embedding model achieved the best performance, with KNN (MSD) close behind. KNN with cosine similarity could not be evaluated, as it ran out of memory (~7.75 GB) when computing the full user-user similarity matrix on ~32,000 users — that result remains incomplete.</a:t>
            </a:r>
            <a:endParaRPr lang="en-US" sz="2200" dirty="0">
              <a:solidFill>
                <a:srgbClr val="1C7DDB"/>
              </a:solidFill>
              <a:latin typeface="Abadi"/>
            </a:endParaRPr>
          </a:p>
        </p:txBody>
      </p:sp>
      <p:pic>
        <p:nvPicPr>
          <p:cNvPr id="8" name="Picture 7">
            <a:extLst>
              <a:ext uri="{FF2B5EF4-FFF2-40B4-BE49-F238E27FC236}">
                <a16:creationId xmlns:a16="http://schemas.microsoft.com/office/drawing/2014/main" id="{5037EA85-E683-475C-7458-15BDB20EA29C}"/>
              </a:ext>
            </a:extLst>
          </p:cNvPr>
          <p:cNvPicPr>
            <a:picLocks noChangeAspect="1"/>
          </p:cNvPicPr>
          <p:nvPr/>
        </p:nvPicPr>
        <p:blipFill>
          <a:blip r:embed="rId2"/>
          <a:srcRect t="4965" b="4209"/>
          <a:stretch>
            <a:fillRect/>
          </a:stretch>
        </p:blipFill>
        <p:spPr>
          <a:xfrm>
            <a:off x="2823225" y="1441586"/>
            <a:ext cx="6545547" cy="3448914"/>
          </a:xfrm>
          <a:prstGeom prst="rect">
            <a:avLst/>
          </a:prstGeom>
        </p:spPr>
      </p:pic>
    </p:spTree>
    <p:extLst>
      <p:ext uri="{BB962C8B-B14F-4D97-AF65-F5344CB8AC3E}">
        <p14:creationId xmlns:p14="http://schemas.microsoft.com/office/powerpoint/2010/main" val="413013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F9A5-BC15-9C44-9AEA-93F5BAAA07AC}"/>
              </a:ext>
            </a:extLst>
          </p:cNvPr>
          <p:cNvSpPr>
            <a:spLocks noGrp="1"/>
          </p:cNvSpPr>
          <p:nvPr>
            <p:ph type="title"/>
          </p:nvPr>
        </p:nvSpPr>
        <p:spPr/>
        <p:txBody>
          <a:bodyPr/>
          <a:lstStyle/>
          <a:p>
            <a:r>
              <a:rPr lang="en-US" sz="4000" dirty="0">
                <a:solidFill>
                  <a:srgbClr val="0B49CB"/>
                </a:solidFill>
                <a:latin typeface="Abadi"/>
              </a:rPr>
              <a:t>Optional: Build a course recommender system app with Streamlit</a:t>
            </a:r>
          </a:p>
        </p:txBody>
      </p:sp>
      <p:sp>
        <p:nvSpPr>
          <p:cNvPr id="4" name="Content Placeholder 4">
            <a:extLst>
              <a:ext uri="{FF2B5EF4-FFF2-40B4-BE49-F238E27FC236}">
                <a16:creationId xmlns:a16="http://schemas.microsoft.com/office/drawing/2014/main" id="{F3C5989F-33DB-E341-8D2D-58919572AF85}"/>
              </a:ext>
            </a:extLst>
          </p:cNvPr>
          <p:cNvSpPr txBox="1">
            <a:spLocks/>
          </p:cNvSpPr>
          <p:nvPr/>
        </p:nvSpPr>
        <p:spPr>
          <a:xfrm>
            <a:off x="855663" y="1792289"/>
            <a:ext cx="4659613"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5" name="Content Placeholder 4">
            <a:extLst>
              <a:ext uri="{FF2B5EF4-FFF2-40B4-BE49-F238E27FC236}">
                <a16:creationId xmlns:a16="http://schemas.microsoft.com/office/drawing/2014/main" id="{1A009626-4E30-F64B-B251-6A848BDAB6FC}"/>
              </a:ext>
            </a:extLst>
          </p:cNvPr>
          <p:cNvSpPr txBox="1">
            <a:spLocks/>
          </p:cNvSpPr>
          <p:nvPr/>
        </p:nvSpPr>
        <p:spPr>
          <a:xfrm>
            <a:off x="6694187" y="1792289"/>
            <a:ext cx="4659613"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8" name="TextBox 7">
            <a:extLst>
              <a:ext uri="{FF2B5EF4-FFF2-40B4-BE49-F238E27FC236}">
                <a16:creationId xmlns:a16="http://schemas.microsoft.com/office/drawing/2014/main" id="{E5AAF09B-75CD-954A-B082-C62620ABA3F3}"/>
              </a:ext>
            </a:extLst>
          </p:cNvPr>
          <p:cNvSpPr txBox="1"/>
          <p:nvPr/>
        </p:nvSpPr>
        <p:spPr>
          <a:xfrm>
            <a:off x="855662" y="1792289"/>
            <a:ext cx="4659613" cy="400110"/>
          </a:xfrm>
          <a:prstGeom prst="rect">
            <a:avLst/>
          </a:prstGeom>
          <a:noFill/>
        </p:spPr>
        <p:txBody>
          <a:bodyPr wrap="square">
            <a:spAutoFit/>
          </a:bodyPr>
          <a:lstStyle/>
          <a:p>
            <a:pPr marL="0" indent="0">
              <a:buNone/>
            </a:pPr>
            <a:r>
              <a:rPr lang="en-US" sz="2000" dirty="0">
                <a:solidFill>
                  <a:srgbClr val="1C7DDB"/>
                </a:solidFill>
                <a:latin typeface="Abadi"/>
              </a:rPr>
              <a:t>Streamlit app screenshot1</a:t>
            </a:r>
          </a:p>
        </p:txBody>
      </p:sp>
      <p:sp>
        <p:nvSpPr>
          <p:cNvPr id="9" name="TextBox 8">
            <a:extLst>
              <a:ext uri="{FF2B5EF4-FFF2-40B4-BE49-F238E27FC236}">
                <a16:creationId xmlns:a16="http://schemas.microsoft.com/office/drawing/2014/main" id="{95157DD3-6050-F54C-AB8E-316EF062F98D}"/>
              </a:ext>
            </a:extLst>
          </p:cNvPr>
          <p:cNvSpPr txBox="1"/>
          <p:nvPr/>
        </p:nvSpPr>
        <p:spPr>
          <a:xfrm>
            <a:off x="6694187" y="1792289"/>
            <a:ext cx="4642150" cy="400110"/>
          </a:xfrm>
          <a:prstGeom prst="rect">
            <a:avLst/>
          </a:prstGeom>
          <a:noFill/>
        </p:spPr>
        <p:txBody>
          <a:bodyPr wrap="square">
            <a:spAutoFit/>
          </a:bodyPr>
          <a:lstStyle/>
          <a:p>
            <a:pPr marL="0" indent="0">
              <a:buNone/>
            </a:pPr>
            <a:r>
              <a:rPr lang="en-US" sz="2000" dirty="0">
                <a:solidFill>
                  <a:srgbClr val="1C7DDB"/>
                </a:solidFill>
                <a:latin typeface="Abadi"/>
              </a:rPr>
              <a:t>Streamlit app screenshot2</a:t>
            </a:r>
          </a:p>
        </p:txBody>
      </p:sp>
      <p:sp>
        <p:nvSpPr>
          <p:cNvPr id="10" name="Content Placeholder 4">
            <a:extLst>
              <a:ext uri="{FF2B5EF4-FFF2-40B4-BE49-F238E27FC236}">
                <a16:creationId xmlns:a16="http://schemas.microsoft.com/office/drawing/2014/main" id="{A5E5D172-C398-C444-9C12-5E48A3C2030B}"/>
              </a:ext>
            </a:extLst>
          </p:cNvPr>
          <p:cNvSpPr txBox="1">
            <a:spLocks/>
          </p:cNvSpPr>
          <p:nvPr/>
        </p:nvSpPr>
        <p:spPr>
          <a:xfrm>
            <a:off x="855663" y="6056427"/>
            <a:ext cx="10498137" cy="436448"/>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A published Streamlit App URL for a live demo</a:t>
            </a:r>
          </a:p>
        </p:txBody>
      </p:sp>
    </p:spTree>
    <p:extLst>
      <p:ext uri="{BB962C8B-B14F-4D97-AF65-F5344CB8AC3E}">
        <p14:creationId xmlns:p14="http://schemas.microsoft.com/office/powerpoint/2010/main" val="25707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380966"/>
            <a:ext cx="10367176" cy="4938383"/>
          </a:xfrm>
          <a:prstGeom prst="rect">
            <a:avLst/>
          </a:prstGeom>
        </p:spPr>
        <p:txBody>
          <a:bodyPr>
            <a:normAutofit fontScale="92500" lnSpcReduction="10000"/>
          </a:bodyPr>
          <a:lstStyle/>
          <a:p>
            <a:pPr marL="0" indent="0">
              <a:buNone/>
            </a:pPr>
            <a:r>
              <a:rPr lang="en-US" sz="1600" dirty="0"/>
              <a:t>From exploratory analysis through content-based and collaborative modeling, every stage of this project validated a clear path to personalized course discovery.</a:t>
            </a:r>
          </a:p>
          <a:p>
            <a:r>
              <a:rPr lang="en-US" sz="1600" b="1" dirty="0"/>
              <a:t>H1 — Confirmed</a:t>
            </a:r>
            <a:br>
              <a:rPr lang="en-US" sz="1600" dirty="0"/>
            </a:br>
            <a:r>
              <a:rPr lang="en-US" sz="1600" dirty="0"/>
              <a:t>Content-based filtering — built on the genre and enrollment patterns surfaced during EDA — effectively matched learners to unseen courses. The user-profile (genre-vector) method averaged 44.3 new recommendations per learner; the course-similarity (</a:t>
            </a:r>
            <a:r>
              <a:rPr lang="en-US" sz="1600" dirty="0" err="1"/>
              <a:t>BoW</a:t>
            </a:r>
            <a:r>
              <a:rPr lang="en-US" sz="1600" dirty="0"/>
              <a:t> cosine ≥ 0.6) method averaged 14.97, across 33,901 test users.</a:t>
            </a:r>
          </a:p>
          <a:p>
            <a:r>
              <a:rPr lang="en-US" sz="1600" b="1" dirty="0"/>
              <a:t>H2 — Confirmed</a:t>
            </a:r>
            <a:br>
              <a:rPr lang="en-US" sz="1600" dirty="0"/>
            </a:br>
            <a:r>
              <a:rPr lang="en-US" sz="1600" dirty="0"/>
              <a:t>Collaborative filtering outperformed content-based methods by learning from collective enrollment </a:t>
            </a:r>
            <a:r>
              <a:rPr lang="en-US" sz="1600" dirty="0" err="1"/>
              <a:t>behaviour</a:t>
            </a:r>
            <a:r>
              <a:rPr lang="en-US" sz="1600" dirty="0"/>
              <a:t> rather than genre data alone. Neural Network Embeddings (RMSE 0.138) and KNN with MSD similarity (RMSE 0.1905) both delivered strong rating-prediction accuracy, validating the supervised-learning approach.</a:t>
            </a:r>
          </a:p>
          <a:p>
            <a:r>
              <a:rPr lang="en-US" sz="1600" b="1" dirty="0"/>
              <a:t>H3 — Confirmed</a:t>
            </a:r>
            <a:br>
              <a:rPr lang="en-US" sz="1600" dirty="0"/>
            </a:br>
            <a:r>
              <a:rPr lang="en-US" sz="1600" dirty="0"/>
              <a:t>Among all collaborative models compared, Neural Network Embeddings achieved the lowest RMSE (0.138) — ahead of KNN/MSD (0.1905) and NMF via Surprise (1.2891) — confirming that learned embeddings capture course relationships better than similarity- or factorization-based methods.</a:t>
            </a:r>
          </a:p>
          <a:p>
            <a:r>
              <a:rPr lang="en-US" sz="1600" b="1" dirty="0"/>
              <a:t>Clustering Insight</a:t>
            </a:r>
            <a:br>
              <a:rPr lang="en-US" sz="1600" dirty="0"/>
            </a:br>
            <a:r>
              <a:rPr lang="en-US" sz="1600" dirty="0"/>
              <a:t>K-Means clustering (k=8, chosen via the elbow method) segmented 33,897 learners — consistent with the right-skewed engagement pattern seen in EDA — into groups ranging from a niche cluster of 20 to a dominant cluster of 11,774, enabling group-targeted recommendations as a complementary strategy to individual-level filtering.</a:t>
            </a:r>
          </a:p>
          <a:p>
            <a:r>
              <a:rPr lang="en-US" sz="1600" b="1" dirty="0"/>
              <a:t>Looking Ahead</a:t>
            </a:r>
            <a:r>
              <a:rPr lang="en-US" sz="1600" dirty="0"/>
              <a:t> (bottom banner)</a:t>
            </a:r>
            <a:br>
              <a:rPr lang="en-US" sz="1600" dirty="0"/>
            </a:br>
            <a:r>
              <a:rPr lang="en-US" sz="1600" dirty="0"/>
              <a:t>Two next steps carry the project forward: resolving the incomplete KNN cosine-similarity evaluation (halted by a ~7.75GB memory limit on ~32,000 users), and using the deployed </a:t>
            </a:r>
            <a:r>
              <a:rPr lang="en-US" sz="1600" dirty="0" err="1"/>
              <a:t>Streamlit</a:t>
            </a:r>
            <a:r>
              <a:rPr lang="en-US" sz="1600" dirty="0"/>
              <a:t> app to gather live feedback on recommendation quality from real users.</a:t>
            </a:r>
          </a:p>
          <a:p>
            <a:pPr>
              <a:lnSpc>
                <a:spcPct val="100000"/>
              </a:lnSpc>
              <a:spcBef>
                <a:spcPts val="1400"/>
              </a:spcBef>
            </a:pPr>
            <a:endParaRPr lang="en-US" sz="16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dirty="0">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fontScale="92500" lnSpcReduction="10000"/>
          </a:bodyPr>
          <a:lstStyle/>
          <a:p>
            <a:r>
              <a:rPr lang="en-IN" sz="2000" b="1" dirty="0"/>
              <a:t>GitHub Repository (link :							           )</a:t>
            </a:r>
            <a:br>
              <a:rPr lang="en-IN" sz="2000" dirty="0"/>
            </a:br>
            <a:r>
              <a:rPr lang="en-IN" sz="2000" dirty="0"/>
              <a:t>Full project codebase covering every stage shown in this deck — EDA notebooks, content-based model notebooks (user-profile, course-similarity, clustering), collaborative-filtering notebooks (KNN, NMF, neural embeddings), and evaluation scripts.</a:t>
            </a:r>
          </a:p>
          <a:p>
            <a:r>
              <a:rPr lang="en-IN" sz="2000" b="1" dirty="0"/>
              <a:t>Key Libraries</a:t>
            </a:r>
            <a:br>
              <a:rPr lang="en-IN" sz="2000" dirty="0"/>
            </a:br>
            <a:r>
              <a:rPr lang="en-IN" sz="2000" dirty="0"/>
              <a:t>Pandas, NumPy, Matplotlib, Seaborn, and </a:t>
            </a:r>
            <a:r>
              <a:rPr lang="en-IN" sz="2000" dirty="0" err="1"/>
              <a:t>WordCloud</a:t>
            </a:r>
            <a:r>
              <a:rPr lang="en-IN" sz="2000" dirty="0"/>
              <a:t> for EDA; scikit-learn for content-based </a:t>
            </a:r>
            <a:r>
              <a:rPr lang="en-IN" sz="2000" dirty="0" err="1"/>
              <a:t>modeling</a:t>
            </a:r>
            <a:r>
              <a:rPr lang="en-IN" sz="2000" dirty="0"/>
              <a:t> (genre vectors, KNN, K-Means, NMF); Surprise and TensorFlow/</a:t>
            </a:r>
            <a:r>
              <a:rPr lang="en-IN" sz="2000" dirty="0" err="1"/>
              <a:t>Keras</a:t>
            </a:r>
            <a:r>
              <a:rPr lang="en-IN" sz="2000" dirty="0"/>
              <a:t> for collaborative filtering and neural embeddings.</a:t>
            </a:r>
          </a:p>
          <a:p>
            <a:r>
              <a:rPr lang="en-IN" sz="2000" b="1" dirty="0"/>
              <a:t>Dataset</a:t>
            </a:r>
            <a:br>
              <a:rPr lang="en-IN" sz="2000" dirty="0"/>
            </a:br>
            <a:r>
              <a:rPr lang="en-IN" sz="2000" dirty="0"/>
              <a:t>IBM Skills Network course-</a:t>
            </a:r>
            <a:r>
              <a:rPr lang="en-IN" sz="2000" dirty="0" err="1"/>
              <a:t>enrollment</a:t>
            </a:r>
            <a:r>
              <a:rPr lang="en-IN" sz="2000" dirty="0"/>
              <a:t> logs — the same 33,901-learner, 307-course </a:t>
            </a:r>
            <a:r>
              <a:rPr lang="en-IN" sz="2000" dirty="0" err="1"/>
              <a:t>catalog</a:t>
            </a:r>
            <a:r>
              <a:rPr lang="en-IN" sz="2000" dirty="0"/>
              <a:t> explored throughout the EDA and used to train and evaluate every model in this deck, spanning genres such as Backend Development, Machine Learning, Database, Cloud Computing, and Chatbots.</a:t>
            </a:r>
          </a:p>
          <a:p>
            <a:r>
              <a:rPr lang="en-IN" sz="2000" b="1" dirty="0"/>
              <a:t>Future Work</a:t>
            </a:r>
            <a:br>
              <a:rPr lang="en-IN" sz="2000" dirty="0"/>
            </a:br>
            <a:r>
              <a:rPr lang="en-IN" sz="2000" dirty="0"/>
              <a:t>Resolve the incomplete KNN (cosine similarity) evaluation, extend EDA with genre co-</a:t>
            </a:r>
            <a:r>
              <a:rPr lang="en-IN" sz="2000" dirty="0" err="1"/>
              <a:t>enrollment</a:t>
            </a:r>
            <a:r>
              <a:rPr lang="en-IN" sz="2000" dirty="0"/>
              <a:t> and engagement-heatmap analysis, and use the </a:t>
            </a:r>
            <a:r>
              <a:rPr lang="en-IN" sz="2000" dirty="0" err="1"/>
              <a:t>Streamlit</a:t>
            </a:r>
            <a:r>
              <a:rPr lang="en-IN" sz="2000" dirty="0"/>
              <a:t> app deployment to collect live user feedback for further model tuning.</a:t>
            </a:r>
          </a:p>
          <a:p>
            <a:pPr>
              <a:lnSpc>
                <a:spcPct val="100000"/>
              </a:lnSpc>
              <a:spcBef>
                <a:spcPts val="1400"/>
              </a:spcBef>
            </a:pPr>
            <a:endParaRPr lang="en-US" sz="2000" dirty="0">
              <a:solidFill>
                <a:schemeClr val="accent3">
                  <a:lumMod val="25000"/>
                </a:schemeClr>
              </a:solidFill>
              <a:latin typeface="Abadi" panose="020B0604020104020204" pitchFamily="34" charset="0"/>
            </a:endParaRP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
        <p:nvSpPr>
          <p:cNvPr id="2" name="TextBox 1">
            <a:extLst>
              <a:ext uri="{FF2B5EF4-FFF2-40B4-BE49-F238E27FC236}">
                <a16:creationId xmlns:a16="http://schemas.microsoft.com/office/drawing/2014/main" id="{E63DC57E-73AF-5F86-AC88-A9DD558D7319}"/>
              </a:ext>
            </a:extLst>
          </p:cNvPr>
          <p:cNvSpPr txBox="1"/>
          <p:nvPr/>
        </p:nvSpPr>
        <p:spPr>
          <a:xfrm>
            <a:off x="3482377" y="1849148"/>
            <a:ext cx="6521803" cy="307777"/>
          </a:xfrm>
          <a:prstGeom prst="rect">
            <a:avLst/>
          </a:prstGeom>
          <a:noFill/>
        </p:spPr>
        <p:txBody>
          <a:bodyPr wrap="square" rtlCol="0">
            <a:spAutoFit/>
          </a:bodyPr>
          <a:lstStyle/>
          <a:p>
            <a:r>
              <a:rPr lang="en-IN" sz="1400" u="sng" dirty="0">
                <a:solidFill>
                  <a:srgbClr val="1C7DDB"/>
                </a:solidFill>
              </a:rPr>
              <a:t>https://github.com/shivanshbtr/Course-recommendation-coursera-ibm-ml-capstone</a:t>
            </a:r>
            <a:endParaRPr lang="en-IN" sz="1400" dirty="0"/>
          </a:p>
        </p:txBody>
      </p:sp>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2846</TotalTime>
  <Words>1567</Words>
  <Application>Microsoft Office PowerPoint</Application>
  <PresentationFormat>Widescreen</PresentationFormat>
  <Paragraphs>93</Paragraphs>
  <Slides>23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Abadi</vt:lpstr>
      <vt:lpstr>Arial</vt:lpstr>
      <vt:lpstr>Calibri</vt:lpstr>
      <vt:lpstr>Custom Design</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user profile-based recommender system</vt:lpstr>
      <vt:lpstr>Flowchart of content-based recommender system using course similarity</vt:lpstr>
      <vt:lpstr>Evaluation results of course similarity based recommender system</vt:lpstr>
      <vt:lpstr>Flowchart of clustering-based recommender system</vt:lpstr>
      <vt:lpstr>Evaluation results of clustering-based recommender system</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Compare the performance of collaborative-filtering models</vt:lpstr>
      <vt:lpstr>Optional: Build a course recommender system app with Streamlit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Shivansh Batra</cp:lastModifiedBy>
  <cp:revision>484</cp:revision>
  <dcterms:created xsi:type="dcterms:W3CDTF">2021-04-29T18:58:34Z</dcterms:created>
  <dcterms:modified xsi:type="dcterms:W3CDTF">2026-06-19T08:35:05Z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